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8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8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8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8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9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5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 txBox="1"/>
          <p:nvPr/>
        </p:nvSpPr>
        <p:spPr>
          <a:xfrm>
            <a:off x="822960" y="2331720"/>
            <a:ext cx="10515600" cy="11887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WEB APPLICATION ARCHITECTURE</a:t>
            </a:r>
            <a:endParaRPr dirty="0" sz="4000" lang="en-US"/>
          </a:p>
        </p:txBody>
      </p:sp>
      <p:sp>
        <p:nvSpPr>
          <p:cNvPr id="1048577" name="Text 1"/>
          <p:cNvSpPr txBox="1"/>
          <p:nvPr/>
        </p:nvSpPr>
        <p:spPr>
          <a:xfrm>
            <a:off x="822960" y="3429000"/>
            <a:ext cx="1051560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700" kern="0" lang="en-US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 →  ASP.NET Core  →  Entity Framework Core  →  SQL Server</a:t>
            </a:r>
            <a:endParaRPr dirty="0" sz="1700" lang="en-US"/>
          </a:p>
        </p:txBody>
      </p:sp>
      <p:sp>
        <p:nvSpPr>
          <p:cNvPr id="1048578" name="Shape 2"/>
          <p:cNvSpPr/>
          <p:nvPr/>
        </p:nvSpPr>
        <p:spPr>
          <a:xfrm>
            <a:off x="2322576" y="4709160"/>
            <a:ext cx="566928" cy="566928"/>
          </a:xfrm>
          <a:prstGeom prst="ellipse"/>
          <a:solidFill>
            <a:srgbClr val="2C3878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97152" name="Image 0" descr="/home/claude/ppt/icons/user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450592" y="4837176"/>
            <a:ext cx="310896" cy="310896"/>
          </a:xfrm>
          <a:prstGeom prst="rect"/>
        </p:spPr>
      </p:pic>
      <p:sp>
        <p:nvSpPr>
          <p:cNvPr id="1048579" name="Text 3"/>
          <p:cNvSpPr txBox="1"/>
          <p:nvPr/>
        </p:nvSpPr>
        <p:spPr>
          <a:xfrm>
            <a:off x="2889504" y="4663440"/>
            <a:ext cx="1170432" cy="6583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dirty="0" sz="2000" lang="en-US"/>
          </a:p>
        </p:txBody>
      </p:sp>
      <p:sp>
        <p:nvSpPr>
          <p:cNvPr id="1048580" name="Shape 4"/>
          <p:cNvSpPr/>
          <p:nvPr/>
        </p:nvSpPr>
        <p:spPr>
          <a:xfrm>
            <a:off x="4059936" y="4709160"/>
            <a:ext cx="566928" cy="566928"/>
          </a:xfrm>
          <a:prstGeom prst="ellipse"/>
          <a:solidFill>
            <a:srgbClr val="2C3878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97153" name="Image 1" descr="/home/claude/ppt/icons/angular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187952" y="4837176"/>
            <a:ext cx="310896" cy="310896"/>
          </a:xfrm>
          <a:prstGeom prst="rect"/>
        </p:spPr>
      </p:pic>
      <p:sp>
        <p:nvSpPr>
          <p:cNvPr id="1048581" name="Text 5"/>
          <p:cNvSpPr txBox="1"/>
          <p:nvPr/>
        </p:nvSpPr>
        <p:spPr>
          <a:xfrm>
            <a:off x="4626864" y="4663440"/>
            <a:ext cx="1170432" cy="6583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dirty="0" sz="2000" lang="en-US"/>
          </a:p>
        </p:txBody>
      </p:sp>
      <p:sp>
        <p:nvSpPr>
          <p:cNvPr id="1048582" name="Shape 6"/>
          <p:cNvSpPr/>
          <p:nvPr/>
        </p:nvSpPr>
        <p:spPr>
          <a:xfrm>
            <a:off x="5797296" y="4709160"/>
            <a:ext cx="566928" cy="566928"/>
          </a:xfrm>
          <a:prstGeom prst="ellipse"/>
          <a:solidFill>
            <a:srgbClr val="2C3878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97154" name="Image 2" descr="/home/claude/ppt/icons/dotnet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925312" y="4837176"/>
            <a:ext cx="310896" cy="310896"/>
          </a:xfrm>
          <a:prstGeom prst="rect"/>
        </p:spPr>
      </p:pic>
      <p:sp>
        <p:nvSpPr>
          <p:cNvPr id="1048583" name="Text 7"/>
          <p:cNvSpPr txBox="1"/>
          <p:nvPr/>
        </p:nvSpPr>
        <p:spPr>
          <a:xfrm>
            <a:off x="6364224" y="4663440"/>
            <a:ext cx="1170432" cy="6583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dirty="0" sz="2000" lang="en-US"/>
          </a:p>
        </p:txBody>
      </p:sp>
      <p:sp>
        <p:nvSpPr>
          <p:cNvPr id="1048584" name="Shape 8"/>
          <p:cNvSpPr/>
          <p:nvPr/>
        </p:nvSpPr>
        <p:spPr>
          <a:xfrm>
            <a:off x="7534656" y="4709160"/>
            <a:ext cx="566928" cy="566928"/>
          </a:xfrm>
          <a:prstGeom prst="ellipse"/>
          <a:solidFill>
            <a:srgbClr val="2C3878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97155" name="Image 3" descr="/home/claude/ppt/icons/project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662672" y="4837176"/>
            <a:ext cx="310896" cy="310896"/>
          </a:xfrm>
          <a:prstGeom prst="rect"/>
        </p:spPr>
      </p:pic>
      <p:sp>
        <p:nvSpPr>
          <p:cNvPr id="1048585" name="Text 9"/>
          <p:cNvSpPr txBox="1"/>
          <p:nvPr/>
        </p:nvSpPr>
        <p:spPr>
          <a:xfrm>
            <a:off x="8101584" y="4663440"/>
            <a:ext cx="1170432" cy="6583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dirty="0" sz="2000" lang="en-US"/>
          </a:p>
        </p:txBody>
      </p:sp>
      <p:sp>
        <p:nvSpPr>
          <p:cNvPr id="1048586" name="Shape 10"/>
          <p:cNvSpPr/>
          <p:nvPr/>
        </p:nvSpPr>
        <p:spPr>
          <a:xfrm>
            <a:off x="9272016" y="4709160"/>
            <a:ext cx="566928" cy="566928"/>
          </a:xfrm>
          <a:prstGeom prst="ellipse"/>
          <a:solidFill>
            <a:srgbClr val="F9A826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97156" name="Image 4" descr="/home/claude/ppt/icons/databas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400032" y="4837176"/>
            <a:ext cx="310896" cy="310896"/>
          </a:xfrm>
          <a:prstGeom prst="rect"/>
        </p:spPr>
      </p:pic>
      <p:sp>
        <p:nvSpPr>
          <p:cNvPr id="1048587" name="Text 11"/>
          <p:cNvSpPr txBox="1"/>
          <p:nvPr/>
        </p:nvSpPr>
        <p:spPr>
          <a:xfrm>
            <a:off x="822960" y="5989320"/>
            <a:ext cx="10515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kern="0" lang="en-US" spc="20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STAGES OF A SINGLE REQUEST</a:t>
            </a:r>
            <a:endParaRPr dirty="0" sz="12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 →   USER   →   ANGULAR</a:t>
            </a:r>
            <a:endParaRPr dirty="0" sz="1100" lang="en-US"/>
          </a:p>
        </p:txBody>
      </p:sp>
      <p:sp>
        <p:nvSpPr>
          <p:cNvPr id="1048592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dirty="0" sz="7200" lang="en-US"/>
          </a:p>
        </p:txBody>
      </p:sp>
      <p:sp>
        <p:nvSpPr>
          <p:cNvPr id="1048593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dirty="0" sz="1200" lang="en-US"/>
          </a:p>
        </p:txBody>
      </p:sp>
      <p:sp>
        <p:nvSpPr>
          <p:cNvPr id="1048594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dirty="0" sz="3800" lang="en-US"/>
          </a:p>
        </p:txBody>
      </p:sp>
      <p:sp>
        <p:nvSpPr>
          <p:cNvPr id="1048595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596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user interacts with the application through a browser — clicking buttons, filling forms, or navigating pages.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the user takes becomes the trigger for the request pipeline that follows.</a:t>
            </a:r>
            <a:endParaRPr dirty="0" sz="1500" lang="en-US"/>
          </a:p>
        </p:txBody>
      </p:sp>
      <p:sp>
        <p:nvSpPr>
          <p:cNvPr id="1048597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598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57" name="Image 0" descr="/home/claude/ppt/icons/user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599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OF 12</a:t>
            </a:r>
            <a:endParaRPr dirty="0" sz="1100" lang="en-US"/>
          </a:p>
        </p:txBody>
      </p:sp>
      <p:sp>
        <p:nvSpPr>
          <p:cNvPr id="1048600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601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02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03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04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05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06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07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08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09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10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11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 →   ANGULAR   →   ANGULAR SERVICE</a:t>
            </a:r>
            <a:endParaRPr dirty="0" sz="1100" lang="en-US"/>
          </a:p>
        </p:txBody>
      </p:sp>
      <p:sp>
        <p:nvSpPr>
          <p:cNvPr id="1048616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dirty="0" sz="7200" lang="en-US"/>
          </a:p>
        </p:txBody>
      </p:sp>
      <p:sp>
        <p:nvSpPr>
          <p:cNvPr id="1048617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dirty="0" sz="1200" lang="en-US"/>
          </a:p>
        </p:txBody>
      </p:sp>
      <p:sp>
        <p:nvSpPr>
          <p:cNvPr id="1048618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</a:t>
            </a:r>
            <a:endParaRPr dirty="0" sz="3800" lang="en-US"/>
          </a:p>
        </p:txBody>
      </p:sp>
      <p:sp>
        <p:nvSpPr>
          <p:cNvPr id="1048619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620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front-end single-page application framework that renders components, views, and handles user interaction.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binds the UI to underlying data and reacts to state changes instantly.</a:t>
            </a:r>
            <a:endParaRPr dirty="0" sz="1500" lang="en-US"/>
          </a:p>
        </p:txBody>
      </p:sp>
      <p:sp>
        <p:nvSpPr>
          <p:cNvPr id="1048621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622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58" name="Image 0" descr="/home/claude/ppt/icons/angular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623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OF 12</a:t>
            </a:r>
            <a:endParaRPr dirty="0" sz="1100" lang="en-US"/>
          </a:p>
        </p:txBody>
      </p:sp>
      <p:sp>
        <p:nvSpPr>
          <p:cNvPr id="1048624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25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626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27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28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29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30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31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32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33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34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35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  →   ANGULAR SERVICE   →   HTTP CLIENT &amp; HTTP REQUEST</a:t>
            </a:r>
            <a:endParaRPr dirty="0" sz="1100" lang="en-US"/>
          </a:p>
        </p:txBody>
      </p:sp>
      <p:sp>
        <p:nvSpPr>
          <p:cNvPr id="1048640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dirty="0" sz="7200" lang="en-US"/>
          </a:p>
        </p:txBody>
      </p:sp>
      <p:sp>
        <p:nvSpPr>
          <p:cNvPr id="1048641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LOGIC</a:t>
            </a:r>
            <a:endParaRPr dirty="0" sz="1200" lang="en-US"/>
          </a:p>
        </p:txBody>
      </p:sp>
      <p:sp>
        <p:nvSpPr>
          <p:cNvPr id="1048642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SERVICE</a:t>
            </a:r>
            <a:endParaRPr dirty="0" sz="3800" lang="en-US"/>
          </a:p>
        </p:txBody>
      </p:sp>
      <p:sp>
        <p:nvSpPr>
          <p:cNvPr id="1048643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644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injectable TypeScript class that separates business and API logic away from UI components.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components lean by centralizing reusable data-handling logic.</a:t>
            </a:r>
            <a:endParaRPr dirty="0" sz="1500" lang="en-US"/>
          </a:p>
        </p:txBody>
      </p:sp>
      <p:sp>
        <p:nvSpPr>
          <p:cNvPr id="1048645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646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59" name="Image 0" descr="/home/claude/ppt/icons/cogs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647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OF 12</a:t>
            </a:r>
            <a:endParaRPr dirty="0" sz="1100" lang="en-US"/>
          </a:p>
        </p:txBody>
      </p:sp>
      <p:sp>
        <p:nvSpPr>
          <p:cNvPr id="1048648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49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0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651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2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3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4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5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6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7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8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59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SERVICE   →   HTTP CLIENT   →   ASP.NET CORE API</a:t>
            </a:r>
            <a:endParaRPr dirty="0" sz="1100" lang="en-US"/>
          </a:p>
        </p:txBody>
      </p:sp>
      <p:sp>
        <p:nvSpPr>
          <p:cNvPr id="1048664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dirty="0" sz="7200" lang="en-US"/>
          </a:p>
        </p:txBody>
      </p:sp>
      <p:sp>
        <p:nvSpPr>
          <p:cNvPr id="1048665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dirty="0" sz="1200" lang="en-US"/>
          </a:p>
        </p:txBody>
      </p:sp>
      <p:sp>
        <p:nvSpPr>
          <p:cNvPr id="1048666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CLIENT &amp; HTTP REQUEST</a:t>
            </a:r>
            <a:endParaRPr dirty="0" sz="3000" lang="en-US"/>
          </a:p>
        </p:txBody>
      </p:sp>
      <p:sp>
        <p:nvSpPr>
          <p:cNvPr id="1048667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668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Angular's HttpClient module builds the outgoing HTTP request — method, headers, and payload.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Request is then dispatched across the network toward the backend API.</a:t>
            </a:r>
            <a:endParaRPr dirty="0" sz="1500" lang="en-US"/>
          </a:p>
        </p:txBody>
      </p:sp>
      <p:sp>
        <p:nvSpPr>
          <p:cNvPr id="1048669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670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0" name="Image 0" descr="/home/claude/ppt/icons/exchan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671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OF 12</a:t>
            </a:r>
            <a:endParaRPr dirty="0" sz="1100" lang="en-US"/>
          </a:p>
        </p:txBody>
      </p:sp>
      <p:sp>
        <p:nvSpPr>
          <p:cNvPr id="1048672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73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74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75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676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77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78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79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80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81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82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83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&amp; HTTP REQUEST   →   ASP.NET CORE API   →   MIDDLEWARE</a:t>
            </a:r>
            <a:endParaRPr dirty="0" sz="1100" lang="en-US"/>
          </a:p>
        </p:txBody>
      </p:sp>
      <p:sp>
        <p:nvSpPr>
          <p:cNvPr id="1048688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dirty="0" sz="7200" lang="en-US"/>
          </a:p>
        </p:txBody>
      </p:sp>
      <p:sp>
        <p:nvSpPr>
          <p:cNvPr id="1048689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ENTRY</a:t>
            </a:r>
            <a:endParaRPr dirty="0" sz="1200" lang="en-US"/>
          </a:p>
        </p:txBody>
      </p:sp>
      <p:sp>
        <p:nvSpPr>
          <p:cNvPr id="1048690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API</a:t>
            </a:r>
            <a:endParaRPr dirty="0" sz="3800" lang="en-US"/>
          </a:p>
        </p:txBody>
      </p:sp>
      <p:sp>
        <p:nvSpPr>
          <p:cNvPr id="1048691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692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backend framework that receives incoming HTTP requests and returns JSON responses.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the single entry point into all server-side processing.</a:t>
            </a:r>
            <a:endParaRPr dirty="0" sz="1500" lang="en-US"/>
          </a:p>
        </p:txBody>
      </p:sp>
      <p:sp>
        <p:nvSpPr>
          <p:cNvPr id="1048693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694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1" name="Image 0" descr="/home/claude/ppt/icons/dotne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695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OF 12</a:t>
            </a:r>
            <a:endParaRPr dirty="0" sz="1100" lang="en-US"/>
          </a:p>
        </p:txBody>
      </p:sp>
      <p:sp>
        <p:nvSpPr>
          <p:cNvPr id="1048696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97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98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699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00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701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02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03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04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05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06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07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API   →   MIDDLEWARE   →   ROUTING</a:t>
            </a:r>
            <a:endParaRPr dirty="0" sz="1100" lang="en-US"/>
          </a:p>
        </p:txBody>
      </p:sp>
      <p:sp>
        <p:nvSpPr>
          <p:cNvPr id="1048712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dirty="0" sz="7200" lang="en-US"/>
          </a:p>
        </p:txBody>
      </p:sp>
      <p:sp>
        <p:nvSpPr>
          <p:cNvPr id="1048713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PIPELINE</a:t>
            </a:r>
            <a:endParaRPr dirty="0" sz="1200" lang="en-US"/>
          </a:p>
        </p:txBody>
      </p:sp>
      <p:sp>
        <p:nvSpPr>
          <p:cNvPr id="1048714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dirty="0" sz="3800" lang="en-US"/>
          </a:p>
        </p:txBody>
      </p:sp>
      <p:sp>
        <p:nvSpPr>
          <p:cNvPr id="1048715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716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of components — authentication, CORS, logging, exception handling — that every request passes through.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can inspect, modify, or short-circuit the request before it reaches routing.</a:t>
            </a:r>
            <a:endParaRPr dirty="0" sz="1500" lang="en-US"/>
          </a:p>
        </p:txBody>
      </p:sp>
      <p:sp>
        <p:nvSpPr>
          <p:cNvPr id="1048717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718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2" name="Image 0" descr="/home/claude/ppt/icons/layers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719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OF 12</a:t>
            </a:r>
            <a:endParaRPr dirty="0" sz="1100" lang="en-US"/>
          </a:p>
        </p:txBody>
      </p:sp>
      <p:sp>
        <p:nvSpPr>
          <p:cNvPr id="1048720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21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22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23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24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25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726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27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28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29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30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31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  →   ROUTING   →   CONTROLLER</a:t>
            </a:r>
            <a:endParaRPr dirty="0" sz="1100" lang="en-US"/>
          </a:p>
        </p:txBody>
      </p:sp>
      <p:sp>
        <p:nvSpPr>
          <p:cNvPr id="1048736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dirty="0" sz="7200" lang="en-US"/>
          </a:p>
        </p:txBody>
      </p:sp>
      <p:sp>
        <p:nvSpPr>
          <p:cNvPr id="1048737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dirty="0" sz="1200" lang="en-US"/>
          </a:p>
        </p:txBody>
      </p:sp>
      <p:sp>
        <p:nvSpPr>
          <p:cNvPr id="1048738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dirty="0" sz="3800" lang="en-US"/>
          </a:p>
        </p:txBody>
      </p:sp>
      <p:sp>
        <p:nvSpPr>
          <p:cNvPr id="1048739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740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incoming URL and HTTP verb to the correct controller action using route templates.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each request lands precisely where it needs to be handled.</a:t>
            </a:r>
            <a:endParaRPr dirty="0" sz="1500" lang="en-US"/>
          </a:p>
        </p:txBody>
      </p:sp>
      <p:sp>
        <p:nvSpPr>
          <p:cNvPr id="1048741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742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3" name="Image 0" descr="/home/claude/ppt/icons/rou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743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OF 12</a:t>
            </a:r>
            <a:endParaRPr dirty="0" sz="1100" lang="en-US"/>
          </a:p>
        </p:txBody>
      </p:sp>
      <p:sp>
        <p:nvSpPr>
          <p:cNvPr id="1048744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45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46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47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48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49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50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751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52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53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54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55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 →   CONTROLLER   →   SERVICE LAYER</a:t>
            </a:r>
            <a:endParaRPr dirty="0" sz="1100" lang="en-US"/>
          </a:p>
        </p:txBody>
      </p:sp>
      <p:sp>
        <p:nvSpPr>
          <p:cNvPr id="1048760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dirty="0" sz="7200" lang="en-US"/>
          </a:p>
        </p:txBody>
      </p:sp>
      <p:sp>
        <p:nvSpPr>
          <p:cNvPr id="1048761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HANDLER</a:t>
            </a:r>
            <a:endParaRPr dirty="0" sz="1200" lang="en-US"/>
          </a:p>
        </p:txBody>
      </p:sp>
      <p:sp>
        <p:nvSpPr>
          <p:cNvPr id="1048762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dirty="0" sz="3800" lang="en-US"/>
          </a:p>
        </p:txBody>
      </p:sp>
      <p:sp>
        <p:nvSpPr>
          <p:cNvPr id="1048763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764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routed request, validates incoming data, and coordinates the response.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the real work to the service layer rather than handling logic itself.</a:t>
            </a:r>
            <a:endParaRPr dirty="0" sz="1500" lang="en-US"/>
          </a:p>
        </p:txBody>
      </p:sp>
      <p:sp>
        <p:nvSpPr>
          <p:cNvPr id="1048765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766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4" name="Image 0" descr="/home/claude/ppt/icons/sitemap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767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8 OF 12</a:t>
            </a:r>
            <a:endParaRPr dirty="0" sz="1100" lang="en-US"/>
          </a:p>
        </p:txBody>
      </p:sp>
      <p:sp>
        <p:nvSpPr>
          <p:cNvPr id="1048768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69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0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1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2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3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4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5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776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7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8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79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 →   SERVICE LAYER   →   REPOSITORY</a:t>
            </a:r>
            <a:endParaRPr dirty="0" sz="1100" lang="en-US"/>
          </a:p>
        </p:txBody>
      </p:sp>
      <p:sp>
        <p:nvSpPr>
          <p:cNvPr id="1048784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dirty="0" sz="7200" lang="en-US"/>
          </a:p>
        </p:txBody>
      </p:sp>
      <p:sp>
        <p:nvSpPr>
          <p:cNvPr id="1048785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dirty="0" sz="1200" lang="en-US"/>
          </a:p>
        </p:txBody>
      </p:sp>
      <p:sp>
        <p:nvSpPr>
          <p:cNvPr id="1048786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</a:t>
            </a:r>
            <a:endParaRPr dirty="0" sz="3800" lang="en-US"/>
          </a:p>
        </p:txBody>
      </p:sp>
      <p:sp>
        <p:nvSpPr>
          <p:cNvPr id="1048787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788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core business rules and orchestrates operations across multiple data sources.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controllers thin and logic reusable and testable.</a:t>
            </a:r>
            <a:endParaRPr dirty="0" sz="1500" lang="en-US"/>
          </a:p>
        </p:txBody>
      </p:sp>
      <p:sp>
        <p:nvSpPr>
          <p:cNvPr id="1048789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790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5" name="Image 0" descr="/home/claude/ppt/icons/tasks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791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9 OF 12</a:t>
            </a:r>
            <a:endParaRPr dirty="0" sz="1100" lang="en-US"/>
          </a:p>
        </p:txBody>
      </p:sp>
      <p:sp>
        <p:nvSpPr>
          <p:cNvPr id="1048792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93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94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95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96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97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98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799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00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801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02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03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  →   REPOSITORY   →   ENTITY FRAMEWORK CORE &amp; DbContext</a:t>
            </a:r>
            <a:endParaRPr dirty="0" sz="1100" lang="en-US"/>
          </a:p>
        </p:txBody>
      </p:sp>
      <p:sp>
        <p:nvSpPr>
          <p:cNvPr id="1048808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dirty="0" sz="7200" lang="en-US"/>
          </a:p>
        </p:txBody>
      </p:sp>
      <p:sp>
        <p:nvSpPr>
          <p:cNvPr id="1048809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dirty="0" sz="1200" lang="en-US"/>
          </a:p>
        </p:txBody>
      </p:sp>
      <p:sp>
        <p:nvSpPr>
          <p:cNvPr id="1048810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dirty="0" sz="3800" lang="en-US"/>
          </a:p>
        </p:txBody>
      </p:sp>
      <p:sp>
        <p:nvSpPr>
          <p:cNvPr id="1048811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812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data access behind clean CRUD methods, hiding query details from business logic.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the service layer from the specifics of Entity Framework Core.</a:t>
            </a:r>
            <a:endParaRPr dirty="0" sz="1500" lang="en-US"/>
          </a:p>
        </p:txBody>
      </p:sp>
      <p:sp>
        <p:nvSpPr>
          <p:cNvPr id="1048813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814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6" name="Image 0" descr="/home/claude/ppt/icons/boxes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815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10 OF 12</a:t>
            </a:r>
            <a:endParaRPr dirty="0" sz="1100" lang="en-US"/>
          </a:p>
        </p:txBody>
      </p:sp>
      <p:sp>
        <p:nvSpPr>
          <p:cNvPr id="1048816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17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18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19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20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21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22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23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24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25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826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27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→   ENTITY FRAMEWORK CORE   →   SQL SERVER / DATABASE</a:t>
            </a:r>
            <a:endParaRPr dirty="0" sz="1100" lang="en-US"/>
          </a:p>
        </p:txBody>
      </p:sp>
      <p:sp>
        <p:nvSpPr>
          <p:cNvPr id="1048832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dirty="0" sz="7200" lang="en-US"/>
          </a:p>
        </p:txBody>
      </p:sp>
      <p:sp>
        <p:nvSpPr>
          <p:cNvPr id="1048833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LAYER</a:t>
            </a:r>
            <a:endParaRPr dirty="0" sz="1200" lang="en-US"/>
          </a:p>
        </p:txBody>
      </p:sp>
      <p:sp>
        <p:nvSpPr>
          <p:cNvPr id="1048834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FRAMEWORK CORE &amp; DbContext</a:t>
            </a:r>
            <a:endParaRPr dirty="0" sz="3000" lang="en-US"/>
          </a:p>
        </p:txBody>
      </p:sp>
      <p:sp>
        <p:nvSpPr>
          <p:cNvPr id="1048835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836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translates LINQ queries into SQL, mapping objects to relational data.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manages entity tracking and the unit of work for each database session.</a:t>
            </a:r>
            <a:endParaRPr dirty="0" sz="1500" lang="en-US"/>
          </a:p>
        </p:txBody>
      </p:sp>
      <p:sp>
        <p:nvSpPr>
          <p:cNvPr id="1048837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838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7" name="Image 0" descr="/home/claude/ppt/icons/projec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839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11 OF 12</a:t>
            </a:r>
            <a:endParaRPr dirty="0" sz="1100" lang="en-US"/>
          </a:p>
        </p:txBody>
      </p:sp>
      <p:sp>
        <p:nvSpPr>
          <p:cNvPr id="1048840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1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2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3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4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5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6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7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8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49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50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F9A826"/>
          </a:solidFill>
        </p:spPr>
      </p:sp>
      <p:sp>
        <p:nvSpPr>
          <p:cNvPr id="1048851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D7DCEE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Text 0"/>
          <p:cNvSpPr txBox="1"/>
          <p:nvPr/>
        </p:nvSpPr>
        <p:spPr>
          <a:xfrm>
            <a:off x="548640" y="320040"/>
            <a:ext cx="110642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kern="0" lang="en-US" spc="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&amp; DbContext   →   SQL SERVER / DATABASE   →   END</a:t>
            </a:r>
            <a:endParaRPr dirty="0" sz="1100" lang="en-US"/>
          </a:p>
        </p:txBody>
      </p:sp>
      <p:sp>
        <p:nvSpPr>
          <p:cNvPr id="1048856" name="Text 1"/>
          <p:cNvSpPr txBox="1"/>
          <p:nvPr/>
        </p:nvSpPr>
        <p:spPr>
          <a:xfrm>
            <a:off x="548640" y="868680"/>
            <a:ext cx="2743200" cy="1371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7200" lang="en-US">
                <a:solidFill>
                  <a:srgbClr val="E3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dirty="0" sz="7200" lang="en-US"/>
          </a:p>
        </p:txBody>
      </p:sp>
      <p:sp>
        <p:nvSpPr>
          <p:cNvPr id="1048857" name="Text 2"/>
          <p:cNvSpPr txBox="1"/>
          <p:nvPr/>
        </p:nvSpPr>
        <p:spPr>
          <a:xfrm>
            <a:off x="594360" y="1783080"/>
            <a:ext cx="5029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20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dirty="0" sz="1200" lang="en-US"/>
          </a:p>
        </p:txBody>
      </p:sp>
      <p:sp>
        <p:nvSpPr>
          <p:cNvPr id="1048858" name="Text 3"/>
          <p:cNvSpPr txBox="1"/>
          <p:nvPr/>
        </p:nvSpPr>
        <p:spPr>
          <a:xfrm>
            <a:off x="548640" y="2103120"/>
            <a:ext cx="6035040" cy="11887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3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/ DATABASE</a:t>
            </a:r>
            <a:endParaRPr dirty="0" sz="3800" lang="en-US"/>
          </a:p>
        </p:txBody>
      </p:sp>
      <p:sp>
        <p:nvSpPr>
          <p:cNvPr id="1048859" name="Shape 4"/>
          <p:cNvSpPr/>
          <p:nvPr/>
        </p:nvSpPr>
        <p:spPr>
          <a:xfrm>
            <a:off x="548640" y="342900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F4F6FC"/>
          </a:solidFill>
        </p:spPr>
      </p:sp>
      <p:sp>
        <p:nvSpPr>
          <p:cNvPr id="1048860" name="Text 5"/>
          <p:cNvSpPr txBox="1"/>
          <p:nvPr/>
        </p:nvSpPr>
        <p:spPr>
          <a:xfrm>
            <a:off x="868680" y="3657600"/>
            <a:ext cx="5394960" cy="2103120"/>
          </a:xfrm>
          <a:prstGeom prst="rect"/>
          <a:noFill/>
        </p:spPr>
        <p:txBody>
          <a:bodyPr anchor="t" rtlCol="0" wrap="square"/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database that stores, retrieves, and persists application data.</a:t>
            </a:r>
            <a:endParaRPr dirty="0" sz="1500" lang="en-US"/>
          </a:p>
          <a:p>
            <a:pPr indent="-228600" marL="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dirty="0" sz="1500" lang="en-US">
                <a:solidFill>
                  <a:srgbClr val="2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generated SQL and returns results back up through the entire pipeline.</a:t>
            </a:r>
            <a:endParaRPr dirty="0" sz="1500" lang="en-US"/>
          </a:p>
        </p:txBody>
      </p:sp>
      <p:sp>
        <p:nvSpPr>
          <p:cNvPr id="1048861" name="Shape 6"/>
          <p:cNvSpPr/>
          <p:nvPr/>
        </p:nvSpPr>
        <p:spPr>
          <a:xfrm>
            <a:off x="7772400" y="1325880"/>
            <a:ext cx="2834640" cy="2834640"/>
          </a:xfrm>
          <a:prstGeom prst="ellipse"/>
          <a:solidFill>
            <a:srgbClr val="1E2761"/>
          </a:solidFill>
        </p:spPr>
      </p:sp>
      <p:sp>
        <p:nvSpPr>
          <p:cNvPr id="1048862" name="Shape 7"/>
          <p:cNvSpPr/>
          <p:nvPr/>
        </p:nvSpPr>
        <p:spPr>
          <a:xfrm>
            <a:off x="7607808" y="1161288"/>
            <a:ext cx="3163824" cy="3163824"/>
          </a:xfrm>
          <a:prstGeom prst="ellipse"/>
          <a:ln w="28575">
            <a:solidFill>
              <a:srgbClr val="F9A826"/>
            </a:solidFill>
            <a:prstDash val="solid"/>
          </a:ln>
        </p:spPr>
      </p:sp>
      <p:pic>
        <p:nvPicPr>
          <p:cNvPr id="2097168" name="Image 0" descr="/home/claude/ppt/icons/databas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81060" y="2034540"/>
            <a:ext cx="1417320" cy="1417320"/>
          </a:xfrm>
          <a:prstGeom prst="rect"/>
        </p:spPr>
      </p:pic>
      <p:sp>
        <p:nvSpPr>
          <p:cNvPr id="1048863" name="Text 8"/>
          <p:cNvSpPr txBox="1"/>
          <p:nvPr/>
        </p:nvSpPr>
        <p:spPr>
          <a:xfrm>
            <a:off x="7607808" y="4434840"/>
            <a:ext cx="3163824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kern="0" lang="en-US" spc="15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12 OF 12</a:t>
            </a:r>
            <a:endParaRPr dirty="0" sz="1100" lang="en-US"/>
          </a:p>
        </p:txBody>
      </p:sp>
      <p:sp>
        <p:nvSpPr>
          <p:cNvPr id="1048864" name="Shape 9"/>
          <p:cNvSpPr/>
          <p:nvPr/>
        </p:nvSpPr>
        <p:spPr>
          <a:xfrm>
            <a:off x="492404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65" name="Shape 10"/>
          <p:cNvSpPr/>
          <p:nvPr/>
        </p:nvSpPr>
        <p:spPr>
          <a:xfrm>
            <a:off x="512521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66" name="Shape 11"/>
          <p:cNvSpPr/>
          <p:nvPr/>
        </p:nvSpPr>
        <p:spPr>
          <a:xfrm>
            <a:off x="532638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67" name="Shape 12"/>
          <p:cNvSpPr/>
          <p:nvPr/>
        </p:nvSpPr>
        <p:spPr>
          <a:xfrm>
            <a:off x="552754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68" name="Shape 13"/>
          <p:cNvSpPr/>
          <p:nvPr/>
        </p:nvSpPr>
        <p:spPr>
          <a:xfrm>
            <a:off x="572871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69" name="Shape 14"/>
          <p:cNvSpPr/>
          <p:nvPr/>
        </p:nvSpPr>
        <p:spPr>
          <a:xfrm>
            <a:off x="592988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70" name="Shape 15"/>
          <p:cNvSpPr/>
          <p:nvPr/>
        </p:nvSpPr>
        <p:spPr>
          <a:xfrm>
            <a:off x="6131052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71" name="Shape 16"/>
          <p:cNvSpPr/>
          <p:nvPr/>
        </p:nvSpPr>
        <p:spPr>
          <a:xfrm>
            <a:off x="6332220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72" name="Shape 17"/>
          <p:cNvSpPr/>
          <p:nvPr/>
        </p:nvSpPr>
        <p:spPr>
          <a:xfrm>
            <a:off x="6533388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73" name="Shape 18"/>
          <p:cNvSpPr/>
          <p:nvPr/>
        </p:nvSpPr>
        <p:spPr>
          <a:xfrm>
            <a:off x="6734556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74" name="Shape 19"/>
          <p:cNvSpPr/>
          <p:nvPr/>
        </p:nvSpPr>
        <p:spPr>
          <a:xfrm>
            <a:off x="6935724" y="6396228"/>
            <a:ext cx="100584" cy="100584"/>
          </a:xfrm>
          <a:prstGeom prst="ellipse"/>
          <a:solidFill>
            <a:srgbClr val="D7DCEE"/>
          </a:solidFill>
        </p:spPr>
      </p:sp>
      <p:sp>
        <p:nvSpPr>
          <p:cNvPr id="1048875" name="Shape 20"/>
          <p:cNvSpPr/>
          <p:nvPr/>
        </p:nvSpPr>
        <p:spPr>
          <a:xfrm>
            <a:off x="7136892" y="6396228"/>
            <a:ext cx="100584" cy="100584"/>
          </a:xfrm>
          <a:prstGeom prst="ellipse"/>
          <a:solidFill>
            <a:srgbClr val="F9A826"/>
          </a:solid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9" name="Shape 0"/>
          <p:cNvSpPr/>
          <p:nvPr/>
        </p:nvSpPr>
        <p:spPr>
          <a:xfrm>
            <a:off x="5303520" y="1965960"/>
            <a:ext cx="1554480" cy="1554480"/>
          </a:xfrm>
          <a:prstGeom prst="ellipse"/>
          <a:solidFill>
            <a:srgbClr val="F9A826"/>
          </a:solidFill>
        </p:spPr>
      </p:sp>
      <p:pic>
        <p:nvPicPr>
          <p:cNvPr id="2097169" name="Image 0" descr="/home/claude/ppt/icons/databas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96712" y="2350008"/>
            <a:ext cx="768096" cy="768096"/>
          </a:xfrm>
          <a:prstGeom prst="rect"/>
        </p:spPr>
      </p:pic>
      <p:sp>
        <p:nvSpPr>
          <p:cNvPr id="1048880" name="Text 1"/>
          <p:cNvSpPr txBox="1"/>
          <p:nvPr/>
        </p:nvSpPr>
        <p:spPr>
          <a:xfrm>
            <a:off x="822960" y="3794760"/>
            <a:ext cx="105156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dirty="0" sz="4400" lang="en-US"/>
          </a:p>
        </p:txBody>
      </p:sp>
      <p:sp>
        <p:nvSpPr>
          <p:cNvPr id="1048881" name="Text 2"/>
          <p:cNvSpPr txBox="1"/>
          <p:nvPr/>
        </p:nvSpPr>
        <p:spPr>
          <a:xfrm>
            <a:off x="1280160" y="4709160"/>
            <a:ext cx="960120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5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click in the browser to a row in the database — one continuous pipeline.</a:t>
            </a:r>
            <a:endParaRPr dirty="0" sz="15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2026-09-02T05:16:34Z</dcterms:created>
  <dcterms:modified xsi:type="dcterms:W3CDTF">2026-09-03T10:12:10Z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60a5687bd4844f14b0778a0a7ad55f89_23</vt:lpwstr>
  </property>
</Properties>
</file>